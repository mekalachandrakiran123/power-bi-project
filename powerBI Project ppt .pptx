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0"/>
  </p:notesMasterIdLst>
  <p:sldIdLst>
    <p:sldId id="256" r:id="rId2"/>
    <p:sldId id="287" r:id="rId3"/>
    <p:sldId id="297" r:id="rId4"/>
    <p:sldId id="286" r:id="rId5"/>
    <p:sldId id="268" r:id="rId6"/>
    <p:sldId id="288" r:id="rId7"/>
    <p:sldId id="289" r:id="rId8"/>
    <p:sldId id="298" r:id="rId9"/>
    <p:sldId id="261" r:id="rId10"/>
    <p:sldId id="299" r:id="rId11"/>
    <p:sldId id="295" r:id="rId12"/>
    <p:sldId id="300" r:id="rId13"/>
    <p:sldId id="281" r:id="rId14"/>
    <p:sldId id="301" r:id="rId15"/>
    <p:sldId id="294" r:id="rId16"/>
    <p:sldId id="291" r:id="rId17"/>
    <p:sldId id="292" r:id="rId18"/>
    <p:sldId id="259" r:id="rId19"/>
  </p:sldIdLst>
  <p:sldSz cx="12192000" cy="6858000"/>
  <p:notesSz cx="6858000" cy="9144000"/>
  <p:embeddedFontLst>
    <p:embeddedFont>
      <p:font typeface="Libre Baskerville" panose="02000000000000000000" pitchFamily="2" charset="0"/>
      <p:regular r:id="rId21"/>
      <p:bold r:id="rId22"/>
      <p: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71926F-CC8B-4667-ABC0-66922938043A}" v="229" dt="2026-01-02T12:29:07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3" autoAdjust="0"/>
    <p:restoredTop sz="94660"/>
  </p:normalViewPr>
  <p:slideViewPr>
    <p:cSldViewPr snapToGrid="0">
      <p:cViewPr varScale="1">
        <p:scale>
          <a:sx n="78" d="100"/>
          <a:sy n="78" d="100"/>
        </p:scale>
        <p:origin x="69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6:24:34.9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204 440 24575,'615'0'0,"430"0"-37,-1028-1 53,-1-1-1,32-7 0,-30 5-18,0 1 0,23-2 0,-12 4 3,12 1 0,77-12 0,15-2 0,-23 4 0,133-14 0,-191 19 0,-1 2 0,57 4 0,59-3 0,-91-10 0,-48 7 0,43-2 0,-126 11-223,-77 14 1,34-3-186,-995 191-2838,1057-198 3866,22-6 14,0 1 1,0 0-1,1 1 1,-25 10-1,69-9-327,105-10-643,205-34-1,-168 16 194,61-6 143,-218 27 204,0 0 0,0-2 0,16-5 0,-79 3-204,-217 9-2299,-290 41 0,-46 53 395,305-45 1908,-358 53-1760,406-55 1915,171-29 4282,309-118-1464,-37 13-4953,71-13-1137,337-76 0,614-70 999,-1059 221 2380,10-1 905,217-58 0,-289 50 889,-75 25-3926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6:24:46.7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7060 952 24575,'-27'-10'0,"4"1"0,-63 0 0,17 3 0,-103-22 0,-305-22-131,4 44-498,290 7 601,112 2 28,0 2 0,0 4 0,1 3 0,-91 27 0,-262 117 0,323-108 159,-99 65 0,168-95 225,-13 12-328,41-28-53,0 0-1,1 0 1,-1 0-1,0 1 1,1-1-1,0 1 1,-1 0-1,1 0 1,0 0-1,1 0 1,-4 7-1,5-10-2,0 1 0,0 0 0,0 0 0,0 0 0,0 0 0,1-1 0,-1 1 0,0 0 0,1 0 0,-1 0 0,0-1 0,1 1 0,-1 0 0,1 0 0,-1-1 0,1 1 0,-1 0 0,1-1 0,0 1 0,-1-1 0,1 1 0,0-1 0,-1 1 0,1-1 0,0 1 0,0-1 0,-1 0 0,1 0 0,1 1 0,27 8 0,-29-9 0,43 7-341,0-2-1,57-1 0,-20-1-200,1156 11-7243,-416-71 4175,-1-34 899,-418 45 2154,1574-211 459,-1703 215 390,212-37 425,-152 9 5616,-365 84-4539,21-9-1724,-84 35 1636,-375 147-1381,-21-4-3123,-189 67-965,-436 119 1480,-242 87-165,956-316 2797,-248 93 1026,20 41-328,626-272-993,-21 11 629,0 1 0,1 1-1,-25 22 1508,65-43-1487,24-13-87,183-109-426,395-211-3165,-56 91 354,72 22 3246,-619 222-640,1703-498-1826,54 124 210,-678 190 3867,-1070 184-1939,127-28 3260,-201 38 375,18 4-2781,0 2 1,1 2-1,-56 31 1,-12 6 489,71-37-1641,17-8 0,-1 0 0,0-1 0,0 0 0,0-1 0,-16 3 0,-1415 170-8821,716-97 5306,-81 1 1554,-307 39 2534,1024-108 277,25-4 1562,-101 24-1,230-54 486,65-34-1,-58 24-2043,240-100-4460,505-143 0,69 99 1893,-621 132 1816,-255 43-97,230-48 2972,-310 72-553,-73 35 0,-83 48-3768,67-30 288,-921 381-5737,611-274 5895,-188 75 744,543-211 548,17-8 2054,-121 66-1,142-61 2541,93-43-4057,18-4-53,43-18-876,-1-4 0,139-67 0,-126 52-141,120-39 1,-192 74 138,-8 4 0,0 0 0,-1-1 0,0 0 0,1 0 0,-1 0 0,0-1 0,0 0 0,0-1 0,0 1 0,6-6 0,-13 8 14,1 1 1,0-1 0,-1 1 0,1-1 0,-1 1 0,1-1 0,-1 1-1,1-1 1,-1 1 0,0 0 0,1-1 0,-1 1 0,1 0 0,-1-1-1,0 1 1,1 0 0,-1 0 0,0 0 0,1 0 0,-1-1-1,0 1 1,1 0 0,-1 0 0,0 0 0,1 0 0,-1 0 0,0 1-1,-24-3 402,-548 1-2420,262 3 1203,208 0 561,-112-4-280,214 2 549,0 0 0,1 0 0,-1 0-1,0 0 1,0 0 0,0-1 0,0 1 0,0 0 0,0 0-1,0-1 1,0 1 0,0 0 0,0-1 0,0 1 0,0-1 0,1 1-1,-1-1 1,0 0 0,0 1 0,1-1 0,-1 0 0,0 1-1,0-2 1,1 1 18,0-1 0,-1 1 0,1 0-1,0 0 1,0 0 0,0 0 0,1 0-1,-1 0 1,0 0 0,0 0 0,1 0-1,-1 0 1,0 0 0,1 0 0,-1 0-1,1 0 1,-1 0 0,2 0 0,4-8 347,1 0 0,0 1 0,13-10 0,-13 11-184,33-30-111,80-57 0,-117 92-99,0 0 0,0 0 0,-1 0 0,1 0 0,-1-1 0,0 1 0,1-1 0,-1 1 0,2-5 0,-4 7 0,0 0 0,0-1 0,0 1 0,0-1 0,1 1 0,-1 0 0,0-1 0,0 1 0,0-1 0,0 1 0,0-1 0,0 1 0,0-1 0,0 1 0,0 0 0,-1-1 0,1 1 0,0-1 0,0 1 0,0-1 0,0 1 0,-1 0 0,1-1 0,0 1 0,0 0 0,-1-1 0,1 1 0,-1-1 0,-1 0 0,1 0 0,0 0 0,-1 1 0,1-1 0,-1 0 0,1 1 0,-1 0 0,1-1 0,-1 1 0,1 0 0,-3-1 0,-30-1-83,0 1 0,-1 1 1,1 2-1,-35 7 0,-134 32-389,184-37 467,-61 15-32,-133 27 133,224-48 86,0-2 0,-1 0 0,0 0 0,20-11 0,54-36-485,-30 18-335,347-180 256,-196 112 292,-188 89 40,-17 11 63,0 1 1,0 0-1,0 0 1,-1-1-1,1 1 0,0 0 1,0 0-1,-1 0 0,1-1 1,0 1-1,0 0 1,-1 0-1,1 0 0,0 0 1,-1-1-1,1 1 1,0 0-1,-1 0 0,1 0 1,0 0-1,-1 0 1,1 0-1,0 0 0,-1 0 1,1 0-1,0 0 1,-1 0-1,1 0 0,0 0 1,-1 0-1,1 1 1,-43 5 820,-12 12-776,-101 47 1,60-22-54,-116 50-5,209-93 0,6-4 0,14-13 0,28-20 0,11-5 0,87-85 0,-142 127 0,0-1 0,-1 1 0,1 0 0,-1-1 0,1 1 0,-1 0 0,1-1 0,-1 1 0,1-1 0,-1 1 0,0-1 0,1 1 0,-1-1 0,0 1 0,1-1 0,-1 0 0,0 1 0,0-1 0,1 1 0,-1-1 0,0 0 0,0 1 0,0-1 0,0 0 0,0 1 0,0-1 0,0 0 0,0 1 0,0-1 0,0 1 0,0-1 0,-1-1 0,-17-4 0,-5-1 0,23 7 0,-1-1 0,0 1 0,1 0 0,-1-1 0,1 1 0,0-1 0,-1 1 0,1-1 0,-1 0 0,1 1 0,0-1 0,-1 1 0,1-1 0,0 1 0,0-1 0,0 0 0,-1 1 0,1-1 0,0 0 0,0 1 0,0-1 0,0 0 0,0 1 0,0-1 0,0 0 0,0 1 0,0-1 0,0 0 0,1 1 0,-1-1 0,0 1 0,1-2 0,1-2 0,0-1 0,1 1 0,-1-1 0,1 1 0,0 0 0,0 0 0,1 0 0,7-6 0,37-29 0,-34 29 0,106-77-624,138-75 0,-83 56 514,-167 99 313,-14 7 248,-18 8 234,-646 283-2397,269-120 912,-292 117 800,408-170-332,-58 25-118,301-125 478,12-5 772,-1 1 0,-31 21-1,62-35-783,0 0 0,0 0 0,-1 0 0,1 0 0,0 0 0,0 0-1,0 0 1,-1 0 0,1 0 0,0 0 0,0 0 0,0 0 0,0 0-1,-1 0 1,1 0 0,0 0 0,0 0 0,0 0 0,0 1 0,-1-1-1,1 0 1,0 0 0,0 0 0,0 0 0,0 0 0,0 0 0,0 1-1,-1-1 1,1 0 0,0 0 0,0 0 0,0 0 0,0 1 0,0-1-1,0 0 1,0 0 0,0 0 0,0 1 0,0-1 0,0 0 0,0 0-1,0 0 1,0 1 0,0-1 0,0 0 0,0 0 0,0 0 0,0 0-1,0 1 1,0-1 0,13-1 125,23-10-205,194-90-1230,100-39-1352,1141-298-1409,-1470 438 4046,605-150-1101,-543 126 1651,-49 17 113,1 1 0,1 1 0,-1 0 0,1 1 0,19 8 2070,-35-4-2674,-14 15 779,-31 19 100,-70 42 0,70-48-1008,-81 66 0,2 0 79,82-64 0,-56 50 0,80-65 0,-1-1 0,0-1 0,-27 15 0,8-6 0,-108 55 0,60-35 0,19-7 0,-130 49 0,288-82 0,591-95-783,-410 48 587,112-27 1175,-466 74-979,-27 18-841,-205 65 0,84-19-421,16-13 1262,-215 56 0,265-72-234,13-4 21,135-27 422,16-6-202,0 0 1,0 0 0,0 0 0,0 0 0,0 0-1,0 0 1,0 0 0,0 0 0,0 0 0,0 0-1,-1 0 1,1 0 0,0 0 8,0 1-1,0-1-7,0 0 0,0 0 0,0 0-1,0 0 1,0 0 0,0 0 0,0 0 0,0 0-1,0 0 1,0 0 0,0 0 0,0 1 0,0-1-1,0 0 1,0 0 0,0 0 0,0 0 0,0 0-1,0 0 1,0 0 0,0 0 0,0 0 0,0 0-1,0 1 1,0-1 0,0 0 0,0 0 0,0 0-1,0 0 1,0 0 0,0 0 0,0 0 23,0 0-23,0 0 0,0 0-1,1 1 1,-1-1 0,0 0 0,0 0 0,0 0-1,0 0 1,0 0 0,0 0 0,0 0 0,29-1 1190,147-42-980,-52 10-400,548-109-1481,-413 90 1275,589-79-1487,-495 84 1382,446-17 493,-412 43-547,90-2-204,-281 11 1560,-9 1 1573,20 0-1849,8-1 615,34 0-1099,15 0-59,-116 0 1105,4 0 57,-243 17-1653,-113 21-1,134-15-142,-699 115-4657,236-35 2199,-311 52 2782,327-46-448,175-25 4154,274-63-1357,51-8-1062,0 1 1,0 1-1,-33 11 1469,59-14-2015,19-6-457,125-54-319,70-23-1706,739-151-4501,17 87 4486,-233 57 2093,-293 37-235,-443 51 290,66-7 2141,136-1 1,-230 11-1493,-1 2 0,1-1 1,0 2-1,1 1 1,-1 0-1,-21 10 0,-1-1-76,-58 17-917,-1152 350-3737,512-153 3209,669-208 1378,46-14-61,0 1 0,0 1-1,-40 24 1817,81-38-1303,90-54-397,-13 5-1597,108-41-748,319-103 1,231-22-1524,-701 206 3215,742-180 1542,-773 188 282,-35 6-267,-35 2 37,-29 6-1732,-114 23 0,-75 35-2310,61-14 953,-768 150-3999,-167 38 3939,855-177 1967,-58 15 3248,202-40 3793,204-48-6286,138-49-1667,401-97-2237,601-11-878,-1026 148 7138,-250 63-152,-102 36-4048,-90 42 31,92-42 422,-44 24 841,202-93 276,29-12-645,30-12-261,381-123-608,-380 125 641,-3-1 0,1 3 0,64-8 0,-392 21-386,87-4-941,-442 47-1944,3 40 2581,-270 30-254,864-112 1306,26-3 252,0 0 1,1 2-1,-1 0 0,-28 9 0,114-22 3066,686-106-6326,7 33-2657,48-5 2137,280-37 3082,-973 117 979,-57 5 1185,100-19 1,-275 36 2834,-372 123-6591,384-105 1919,-153 54-243,-104 31 0,-59 21-906,348-112 700,-4 4 148,42-15 1020,-46 12-1,70-25-716,9-6 61,16-11 374,28-16 143,1 6-823,-33 20 0,-1-1 0,0 1 0,0-2 0,0 0 0,-1 0 0,11-11 0,-19 18 0,-1 0 0,0-1 0,0 1 0,0 0 0,0 0 0,0 0 0,0-1 0,1 1 0,-1 0 0,0 0 0,0-1 0,0 1 0,0 0 0,0 0 0,0-1 0,0 1 0,0 0 0,0 0 0,0-1 0,0 1 0,0 0 0,0 0 0,-1-1 0,1 1 0,0 0 0,0 0 0,0 0 0,0-1 0,0 1 0,0 0 0,0 0 0,-1 0 0,1-1 0,0 1 0,0 0 0,0 0 0,-1 0 0,1 0 0,0-1 0,0 1 0,0 0 0,-1 0 0,1 0 0,0 0 0,0 0 0,-1 0 0,1 0 0,0 0 0,0 0 0,-1 0 0,1 0 0,0 0 0,0 0 0,-1 0 0,1 0 0,0 0 0,-19-2 0,18 2 0,-382 0 0,162 2 0,192-2 0,0-1 0,-1 1 0,1 1 0,-1 2 0,1 1 0,-57 15 0,43-7 0,0-3 0,0-1 0,-84 4 0,61-7 0,-14 6 0,-21 1 0,623-15-3043,-272 5 1674,219-1-1789,540-3-849,0-58 3036,-676 33 198,25 2 676,728-71 141,-88-27 3987,-886 108-3029,263-44 6374,-339 51-7005,60-17 223,-108 22-594,-14 1 0,-829-21-5007,-137 0-1449,642 21 6239,-673 4 401,3 40-1607,283-11 1886,725-31-432,-194 8 832,74 4 2830,339-44 769,117-15-4767,736-37-3661,5 32-727,-837 42 4470,1056-74-404,-323-32 2970,-891 106-1137,-16 3 1631,64-16 1,-170 21 111,-33 3-2924,-441 4-3329,-2 28-54,-457 109 1446,608-76 1870,-499 100 402,837-157 245,-189 30 4233,239-49-4143,14-9-24,105-51-1014,2 4 1,194-65 0,288-46-2063,-445 133 2086,410-97 413,133-36-1650,-703 175 1561,381-98 5648,-423 106-4682,-30 17-919,-87 44 1,37-14-228,-349 129-790,-80 36-260,428-168 1049,-192 97-1425,212-92 1843,-88 49 4478,168-96-4599,14-8-120,0 0-1,0 0 0,0 0 0,0 0 1,0 0-1,0 0 0,0 0 1,1 0-1,-1 0 0,0 0 1,0 0-1,0 0 0,0 0 0,0 0 1,0 0-1,0 0 0,0 0 1,0 1-1,0-1 0,0 0 1,0 0-1,0 0 0,0 0 0,0 0 1,0 0-1,1 0 0,-1 0 1,0 0-1,0 0 0,0 0 1,0 0-1,0 0 0,0 0 0,0 0 1,0 0-1,0 0 0,0 1 1,0-1-1,0 0 0,0 0 1,0 0-1,0 0 0,0 0 0,0 0 1,0 0-1,0 0 0,0 0 1,0 0-1,0 0 0,0 0 1,0 0-1,0 0 0,0 0 0,-1 1 1,1-1-1,0 0 0,0 0 1,0 0-1,0 0 0,0 0 1,0 0-1,0 0 0,0 0 0,27-7-11,182-80-815,-84 33 129,173-50-1,-245 90 791,291-86-672,-310 85 1319,-28 8-42,-24 4-69,-37 6-788,1 3 0,1 3 0,-100 28 0,123-29-56,-518 138-2253,-216 56 2436,423-113-1418,306-80 2834,-1 2 1,-49 26 934,94-36-2002,13-3-281,205-69-948,-98 27-262,206-47-720,417-58 0,339-2-752,-346 60 1908,-635 73 2266,-23 5 4296,-115 14-5156,0 2 0,-29 6 0,-115 34-2074,123-30 1081,-237 69-1769,-174 45-465,-465 123 1719,814-219-5,-172 59 1093,99-22 3679,158-51-1050,40-21-2099,245-97-1704,157-54-2075,605-149-1039,-555 152 2803,-161 36 3561,-263 100-358,-93 12 1966,-396 39-4504,4 30-2774,-664 149 620,1092-211 2622,-651 156 774,592-134 324,45-14 640,0-2 1,-47 9 0,130-32-1423,-1-2 1,69-31-1,-3 1-1395,813-230-1876,-824 250 3209,335-85-3066,-257 57 4471,-159 41 618,-28 13-2149,-10-3 723,-18 1 2,-94 5-794,-148 23 0,162-13-625,-842 106-5516,309-36 2928,-497 101 4126,1004-155 2242,151-40-2175,27-15 52,79-47 1216,171-88-1016,-87 75-2351,324-89 1,238-5 2932,-809 179-162,36 1-1619,-1007 9-4371,2 35-20,867-36 3862,-173 18 2824,302-21-559,36-7-499,26-9 232,65-25 0,-25 7-687,333-83-4391,477-61-1,-268 91 1564,-106 16 1132,-463 57 804,302-38 393,-105 32 5715,-289 16-4353,-186 10 1623,-112 22-3982,-44 3-1685,80-18 1087,-510 48-842,718-55 1637,-338 55 849,269-26 4058,193-39-1429,359-61-4131,-181 20-421,698-52-4098,6 62 2385,-703 25 3450,1074-3-674,-860 18 6869,-432-10-6297,-31 15 1506,10-8-1010,-323 128 3114,-479 192-5738,582-238 808,-77 24 967,16-11 5492,296-99-5122,-3 1-40,0 0-1,0-1 0,0 0 1,0-1-1,-16 3 0,24-5-8,1 0 0,0 0 0,0 0 0,-1 0 0,1 0 0,0 0 0,0-1 0,-1 1 0,1 0 0,0 0 0,0 0 0,0 0 0,-1 0 0,1-1 0,0 1 0,0 0 0,0 0 0,0 0 0,-1-1 0,1 1 0,0 0 0,0 0 0,0 0 0,0-1 0,0 1 0,0 0 0,0 0 0,-1-1 0,1 1 0,0 0 0,0 0 0,0-1 0,0 1 0,0 0 0,0 0 0,0-1 0,0 1 0,1 0 0,-1 0 0,0-1 0,0 1 0,0 0 0,0 0 0,0-1 0,0 1 0,0 0 0,0 0 0,1 0 0,-1-1 0,0 1 0,0 0 0,0 0 0,1 0 0,-1 0 0,0-1 0,0 1 0,0 0 0,1 0 0,-1 0 0,0 0 0,13-14 0,137-126 0,-135 119 0,-14 20 0,-1 1 0,0-1 0,0 0 0,0 0 0,0 1 0,1-1 0,-1 0 0,0 1 0,0-1 0,0 0 0,0 1 0,-1-1 0,1 0 0,0 1 0,0-1 0,0 0 0,-1 1 0,1-1 0,0 0 0,0 1 0,-1-1 0,-2-1 0,1 0 0,0 0 0,-1 0 0,1 1 0,-1-1 0,0 1 0,0 0 0,0-1 0,1 2 0,-1-1 0,0 0 0,0 0 0,-3 1 0,-60-10-597,0 3-1,-82 2 1,32 2-345,-891-19-5879,335 26 5296,341 12 1868,-559 99 0,752-85 2712,158-45-1089,328-163 1184,-114 73-5822,390-115 0,478-106 1542,-1078 319 1218,-7 3 569,0-2-1,28-17 1392,-45 23-2022,-11-6 701,-18 0 78,-313-15 120,205 16-1640,-1112-27-5737,-2 31 2115,604 3 2520,-808 29 1526,5 79 285,588-10-2,9 29 48,46 66 822,476-76 2984,328-118-3770,-23 14 1774,35-12-827,197-2 2841,-100-4-3093,2104 0-10603,-1210 4 9429,-141 27-154,-454-11 700,366 20 1935,-538-25-234,-90-1 32,93 2 6227,-431-11-7475,-111 4-3216,-1309 10-6145,1081-18 6653,-2106-91-723,2380 74 2821,-1315-92 431,1395 102 65,-178-15 3349,355 23-3715,0 1 1,0 0-1,0-1 1,0 0-1,0 0 1,0 0-1,0 0 1,0 0-1,1-1 1,-1 1-1,-3-3 1,6 3-104,-1 1 0,1 0 0,-1-1 0,1 1 0,0-1 1,-1 1-1,1-1 0,0 1 0,0-1 0,-1 1 0,1-1 0,0 1 0,0-1 1,0 1-1,0-1 0,0 1 0,0-1 0,0 1 0,0-1 0,0 1 0,0-1 0,0 1 1,0-1-1,0 1 0,0-1 0,1-1 25,0 1 0,-1 0-1,1-1 1,0 1 0,0 0 0,0 0-1,0 0 1,0 0 0,1 0 0,-1 0 0,0 0-1,0 0 1,2-1 0,38-19 975,1 2-1,1 1 1,78-20 0,-61 19-324,904-216-5463,191 75 935,-422 68 3223,-205 39 5555,-488 51-3987,0 1 1849,70-11 1,-97 10-2806,0 1 0,0 0 0,0 1 1,0 0-1,0 1 0,0 0 0,19 5 1,7 5-27,41 16 1,-14-3-16,-21-10-3,287 79-638,-81-38 487,19 4 200,-264-58-16,26 5 252,-23-1-75,-17 1-4,-26 2-143,0-1 1,-57 2-1,62-6-55,-251 29-212,-177 14-236,293-35 687,-90 3 214,231-14-786,0 2 0,0 0-1,-26 7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69D2-908B-4147-AB26-EF9ACDA04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0F768-4479-A780-FC78-8C249520E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CCA5D-4F56-BC5A-1243-198083E56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7CC02-20B9-F18F-6408-ECD5F8D60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16A70-D690-87EE-8DFD-B5CFEF587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165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3A5EF-1792-3E1A-F438-B06CC0C9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39A99-09FC-596C-74DA-D153C8CC4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75060-0330-9B0C-78C9-1CC873FDB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8DDAF-4E87-1BF0-A2A9-834D9ACBD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ACF74-5758-00CA-A838-BBF11CF8B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704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7A3BD-715F-0085-B308-86E7B417F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0CB06-7B43-10EC-D51C-AAD931C16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B6162-4374-4196-7102-23A63E9C7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95E51-DE11-F769-A8C4-C0AE1A8C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41F02-A178-5B51-943E-C76C188DF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1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54D9-2EBB-6C7D-6BBB-81EABD62D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11B8C-71EC-5F39-53C5-C4EC872AFB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5B101-C7C0-9A7B-02F5-32D044267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B7994-46D7-8ACD-72C7-DEDB0BAC1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1E2D4-EEA5-3A69-135C-D6B418B1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77923-32CF-D9AE-A3C0-28FA48EE9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64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DC879-187B-B160-1A33-53684E6CE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05F95-E239-E2B5-A8B9-72B2EC316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A0580-3F8A-030D-CE10-352B09772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FC2F5-2B2F-B328-1637-5EA706903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F1BDD-5F76-E516-ED79-C2C22BE6D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9273E-1E86-B87F-0A0D-DD6CF61F2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6FC342-A3DC-902B-B35A-C76CA6F97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D23EDB-10BE-0029-4E6A-70FF3F17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997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87EDF-ABFB-3537-4D94-FC2134E3D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89AD76-CDF6-CB64-263E-FC2DF5173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5F6FC1-2860-1C5B-E993-C05DFFF2F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76ABA-63A5-DD7A-7ECB-3FFCAFC6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52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D7F0D5-B0A8-E8AC-855D-47197C889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E22CD2-D331-F228-5AB8-8262CFF24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616FE-BF8D-B23B-9A25-67817929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499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7F326-B757-EB7B-5741-C5DE9AA6C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8FD31-D20E-3798-5823-885D984E5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BD314-BEF2-6854-C404-D71EED028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9C16F-813F-8CE2-E258-D4F49BAF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04525-E705-74F1-22DA-2B0B8EF3E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B6FC8-36D4-3A1E-CF0B-A8F1A8FA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53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A2173-D264-DC40-8338-010D2335A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4A323-E3EB-2A85-C55F-5AC82F906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3C8BE-7CA6-8F47-4D46-9220E0A00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AE453-D113-E53E-22BC-0D6DAA31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5BBAA-D382-E5A5-DD06-EBF1B5491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452B2-5A0F-9401-1961-F1B2DFC3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0513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9ADC0-AC1D-FE24-A225-63AF828D3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65163-764F-BEC9-B6BC-77F20DDAF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ABE00-14E4-903C-17A6-B3327850A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8BDAB-3183-1174-7434-6C094E08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67385-DD6D-3612-8904-676D3C8CE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61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C2CA6-048C-16AC-4A96-8401F3839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B2BFE-E5CA-27F9-70F2-97518C144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A54A6-6858-26CD-377C-2CC34029E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AB0F6-BB14-1B3F-E51F-433C28AE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F26A5-E5B1-5BE7-5EC5-F33D1041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066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FC95C7-2AD1-C901-23DC-A9A0A797A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A4737-E869-541D-5BD8-24DB5F36B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8A3A9-1581-9F6B-9F01-EA244B303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041A-72FF-0729-CCAA-0722A8B5B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21373-5258-7DF3-3F6E-2715214B2D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09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torage.googleapis.com/dybrcedakpaule/types-of-leaky-bucket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.inspiredpencil.com/pictures-2023/magnifying-glass-scientist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18068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644715" y="3726950"/>
            <a:ext cx="890256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Analysis</a:t>
            </a:r>
            <a:endParaRPr sz="32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8C3882-6F42-D0A4-9022-D3BE52284815}"/>
              </a:ext>
            </a:extLst>
          </p:cNvPr>
          <p:cNvSpPr txBox="1"/>
          <p:nvPr/>
        </p:nvSpPr>
        <p:spPr>
          <a:xfrm>
            <a:off x="7236542" y="4520821"/>
            <a:ext cx="4034141" cy="2633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CHANDRA KIRAN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M.SHARATH KUMAR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450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Dilsukhnagar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806F1D4-D02B-9324-62FE-2B6061C02CF9}"/>
                  </a:ext>
                </a:extLst>
              </p14:cNvPr>
              <p14:cNvContentPartPr/>
              <p14:nvPr/>
            </p14:nvContentPartPr>
            <p14:xfrm>
              <a:off x="4632662" y="3197292"/>
              <a:ext cx="1207080" cy="308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806F1D4-D02B-9324-62FE-2B6061C02C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70022" y="3134292"/>
                <a:ext cx="133272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784DEA4-4124-EABD-3695-B6662F420A91}"/>
                  </a:ext>
                </a:extLst>
              </p14:cNvPr>
              <p14:cNvContentPartPr/>
              <p14:nvPr/>
            </p14:nvContentPartPr>
            <p14:xfrm>
              <a:off x="3087704" y="2819472"/>
              <a:ext cx="5057640" cy="1064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784DEA4-4124-EABD-3695-B6662F420A9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24704" y="2756472"/>
                <a:ext cx="5183280" cy="119016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7B6EEB9-E88F-DA76-5192-6D79196E3067}"/>
              </a:ext>
            </a:extLst>
          </p:cNvPr>
          <p:cNvSpPr txBox="1"/>
          <p:nvPr/>
        </p:nvSpPr>
        <p:spPr>
          <a:xfrm>
            <a:off x="4269995" y="3090122"/>
            <a:ext cx="3652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33BF-C5E3-8B5A-FEB8-9FAB0F531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2" y="137652"/>
            <a:ext cx="11039167" cy="924232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Lato Black"/>
              </a:rPr>
              <a:t>About me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31D9B-60C5-FD30-93B1-8E3D61BEE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05" y="1140542"/>
            <a:ext cx="11107995" cy="503642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 am MEKALA CHANDRA KIRAN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 I Recently Completed my graduation in the stream of Computer Science and Engineering from </a:t>
            </a:r>
            <a:r>
              <a:rPr lang="en-US" dirty="0" err="1"/>
              <a:t>Teegala</a:t>
            </a:r>
            <a:r>
              <a:rPr lang="en-US" dirty="0"/>
              <a:t> Krishna Reddy Engineering College, Hyderabad </a:t>
            </a:r>
          </a:p>
          <a:p>
            <a:endParaRPr lang="en-US" dirty="0"/>
          </a:p>
          <a:p>
            <a:r>
              <a:rPr lang="en-US" dirty="0"/>
              <a:t>LinkedIn : </a:t>
            </a:r>
            <a:r>
              <a:rPr lang="en-US" dirty="0">
                <a:solidFill>
                  <a:srgbClr val="00B0F0"/>
                </a:solidFill>
              </a:rPr>
              <a:t>https://www.linkedin.com/in/mekala-chandra-kiran-6a2136389/</a:t>
            </a:r>
            <a:r>
              <a:rPr lang="en-US" dirty="0"/>
              <a:t> </a:t>
            </a: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MORANGAPALLI SHARATH KUMAR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completed my graduation in the stream of B.sc(MSDS) and Degree from Govt degree college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Khairatabad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LinkedIn: 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https://www.linkedin.com/feed/?trk=guest_homepage-basic_google-one-tap-submit</a:t>
            </a:r>
            <a:endParaRPr lang="en-IN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9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773A1-B12B-150E-2809-D785B306A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r>
              <a:rPr lang="en-IN" dirty="0"/>
              <a:t>(The Game Plan)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451B0-75AD-8471-1DA9-8D06A50AC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 Why Are Customers Leaving?</a:t>
            </a:r>
          </a:p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(The Mission)</a:t>
            </a:r>
          </a:p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:Our Big Map of Data (Our Clue Box)</a:t>
            </a:r>
          </a:p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Cleaning</a:t>
            </a:r>
          </a:p>
          <a:p>
            <a:r>
              <a:rPr lang="en-IN" sz="2600" spc="-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Visualizations</a:t>
            </a:r>
          </a:p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SERVICE SECRETS (Internet &amp; Tech) </a:t>
            </a:r>
          </a:p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MONEY &amp; LOYALTY (Billing Analysis)</a:t>
            </a:r>
          </a:p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Key Drivers of Customer Churn</a:t>
            </a:r>
          </a:p>
          <a:p>
            <a:r>
              <a:rPr lang="en-IN" sz="2600" spc="-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  <a:r>
              <a:rPr lang="en-IN" sz="2600" spc="-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IN" sz="2600" spc="-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Conclusion: The Power of Data</a:t>
            </a:r>
          </a:p>
          <a:p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spc="-7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0780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44576-271E-7E42-60D2-93395D3CC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136" y="365125"/>
            <a:ext cx="10736664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Problem: Why Are Customers Leaving?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76BE50-9530-3C57-B4A7-5941DE7CA0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136" y="1930127"/>
            <a:ext cx="1059671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Losing Friends is Expensive: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costs much more money for a phone company to find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customers than it does to keep the ones they already have.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Mystery of Leaving: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is very hard to figure out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people decide to quit using a service. Is it the price? Is the service too slow? We don’t always know!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"Guessing" Game: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Without a good plan, companies are just guessing who might leave next. They need a way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 the future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 they can help unhappy customers before they walk away.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Need for a "Smart Map":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need a clever computer system that looks at the data and shows us exactly how to keep our customers happy and loyal.</a:t>
            </a:r>
          </a:p>
        </p:txBody>
      </p:sp>
    </p:spTree>
    <p:extLst>
      <p:ext uri="{BB962C8B-B14F-4D97-AF65-F5344CB8AC3E}">
        <p14:creationId xmlns:p14="http://schemas.microsoft.com/office/powerpoint/2010/main" val="1559467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3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B2706-9246-BBA6-7957-5BA9E6D2D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213782"/>
            <a:ext cx="10813026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  <a:r>
              <a:rPr lang="en-IN" sz="3600" b="1" dirty="0"/>
              <a:t>(The Mission)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BB8E8-2F3C-BCF4-F625-E0939826B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514" y="1338680"/>
            <a:ext cx="10919286" cy="4362123"/>
          </a:xfrm>
          <a:blipFill dpi="0" rotWithShape="1">
            <a:blip r:embed="rId2">
              <a:alphaModFix amt="40000"/>
              <a:extLs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our company is like a big bucket of water. Our customers are the water.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Lately, there are holes in the bucket, and water is leaking out! We call this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hard to see which holes are the biggest just by looking at a giant list of names.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use our "Data Magnifying Glass" (Power BI) to find the leaks and fix them so our bucket stays full.</a:t>
            </a:r>
          </a:p>
          <a:p>
            <a:pPr algn="just">
              <a:lnSpc>
                <a:spcPct val="12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944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6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DDC66-58C9-6CB4-8EF0-4DD5C3D5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0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: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Big Map of Data (Our Clue Box)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5946A5-8E28-F7BF-2859-488FDC57A8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00693"/>
            <a:ext cx="10515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Total Records: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have information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7,043 customers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That is a lot of people to learn from!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Information Collected: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every single person, we have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21 different facts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(called columns), such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Customer Profile: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they a senior citizen? Do they have a partner or kids?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Service List: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What do they buy? (Phone service, High-speed Internet, or Online Movies).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Account Details: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How long have they been a customer? How do they pay their bills?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Money Matters: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tracks how much each person pays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every month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their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spending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Main 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most important part of our data is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"Churn"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label. This tells us exactly who stayed and who decided to leave the company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6395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C5054-AD6C-1AF4-0C8C-C2D1F3B3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Cleaning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4B1014-9588-25D1-1191-FF4F36EBEE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954583"/>
            <a:ext cx="10154697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Fixed 11 missing prices in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Changed text numbers to math numbers.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Found and removed empty spaces.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Checked for double names, found zero.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Cleaned data makes better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Sorted everything to be neat.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Our data is now ready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18281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960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78665"/>
            <a:ext cx="10515600" cy="698482"/>
          </a:xfrm>
          <a:prstGeom prst="rect">
            <a:avLst/>
          </a:prstGeom>
        </p:spPr>
        <p:txBody>
          <a:bodyPr spcFirstLastPara="1" vert="horz" wrap="square" lIns="0" tIns="8467" rIns="0" bIns="0" rtlCol="0" anchor="ctr" anchorCtr="0">
            <a:spAutoFit/>
          </a:bodyPr>
          <a:lstStyle/>
          <a:p>
            <a:pPr marL="8467">
              <a:lnSpc>
                <a:spcPct val="100000"/>
              </a:lnSpc>
              <a:spcBef>
                <a:spcPts val="67"/>
              </a:spcBef>
              <a:tabLst>
                <a:tab pos="2660360" algn="l"/>
              </a:tabLst>
            </a:pPr>
            <a:r>
              <a:rPr lang="en-US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sz="half" idx="1"/>
          </p:nvPr>
        </p:nvSpPr>
        <p:spPr>
          <a:xfrm>
            <a:off x="838200" y="1213139"/>
            <a:ext cx="5181600" cy="5279736"/>
          </a:xfrm>
          <a:prstGeom prst="rect">
            <a:avLst/>
          </a:prstGeom>
        </p:spPr>
        <p:txBody>
          <a:bodyPr spcFirstLastPara="1" vert="horz" wrap="square" lIns="0" tIns="138007" rIns="0" bIns="0" rtlCol="0" anchor="t" anchorCtr="0">
            <a:spAutoFit/>
          </a:bodyPr>
          <a:lstStyle/>
          <a:p>
            <a:pPr marL="11430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Customers (7,043), Churn Rate (26.5%), and Revenue Lost.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Comparing "Stayers" vs. "Leavers".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Churn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(Discovery: Month-to-month friends leave the most!).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see at a glance if the "Leaky Bucket" is getting better or worse.</a:t>
            </a:r>
          </a:p>
          <a:p>
            <a:pPr marL="0" indent="0">
              <a:lnSpc>
                <a:spcPct val="100000"/>
              </a:lnSpc>
              <a:spcBef>
                <a:spcPts val="1087"/>
              </a:spcBef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EC6A9C-4399-796B-5113-0D9A95AB7C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are our customers leaving us?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26% of our friends said goodbye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optic users leave the most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plans make people quit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Newer customers leave more than old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Paperless billing makes them unhappy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tech support leads to leaving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keep them happy!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530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67FCB-077B-97E2-CA67-44A048C46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b="1" dirty="0">
                <a:solidFill>
                  <a:srgbClr val="FF0000"/>
                </a:solidFill>
              </a:rPr>
              <a:t> SERVICE SECRETS (Internet &amp; Tech)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B29CBB-2768-822A-A0C5-B595D38231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7814" y="1713772"/>
            <a:ext cx="9890521" cy="4067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which internet type has the most leaks (Fiber Optic users are leaving fast!).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&amp; Clustered column Chart: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Seeing how many people have "Tech Support." (Hint: People with no help leave more!).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Donut Chart: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Churn by Online Security and Streaming habits.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find out if our "toys" (services) are the reason people are leaving.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35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82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5185F-B264-DE55-EB87-B619CBB5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8F0C-788F-55F0-C643-3E2C4EFCF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3" y="509587"/>
            <a:ext cx="10515600" cy="84772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087"/>
              </a:spcBef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600" b="1" dirty="0">
                <a:solidFill>
                  <a:srgbClr val="FF0000"/>
                </a:solidFill>
              </a:rPr>
              <a:t>MONEY &amp; LOYALTY (Billing Analysis)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2B73D-8FB7-4F49-438B-14F743D01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48" y="1528761"/>
            <a:ext cx="10801351" cy="4648197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Visuals Used:</a:t>
            </a: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Showing that "New Friends" (under 6 months) leave much more than "Old Friends".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 between high monthly bills and leaving the club.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Bar Chart: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by Payment Method (Electronic Check users have a high churn rate!).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see if our club is too expensive for our friends.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6E751C3-D9FA-292C-6B51-0164CBABB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945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7257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D0025-3D31-1B90-1F94-37177E6AE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4.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b="1" dirty="0">
                <a:solidFill>
                  <a:srgbClr val="FF0000"/>
                </a:solidFill>
              </a:rPr>
              <a:t> Drivers of Customer Churn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0BE04B-03F6-41C9-93CE-7895064A4E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54471"/>
            <a:ext cx="7768473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churn rate sits at 26.54%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Short-term contracts are the primary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First-year customers require urgent retention focus.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Electronic check users churn most frequently.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Fiber optic service shows high dissatisfaction.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payments significantly improve customer loyalty.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Long-term contracts effectively minimize revenue loss.</a:t>
            </a:r>
          </a:p>
        </p:txBody>
      </p:sp>
    </p:spTree>
    <p:extLst>
      <p:ext uri="{BB962C8B-B14F-4D97-AF65-F5344CB8AC3E}">
        <p14:creationId xmlns:p14="http://schemas.microsoft.com/office/powerpoint/2010/main" val="3772717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C39E9-CCA7-6EAF-0985-39165C8D9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  <a:r>
              <a:rPr lang="en-IN" spc="-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IN" spc="-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9E9621-796F-8361-A389-53AC9321C3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07513"/>
            <a:ext cx="8958943" cy="489364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Offer rewards for long-term contracts.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Give free tech help to everyone.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Send welcome gifts to new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Give discounts to high-paying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"Smart Map" to stop leavers.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 customers before they feel sad.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Happy customers stay for many years.</a:t>
            </a:r>
          </a:p>
        </p:txBody>
      </p:sp>
    </p:spTree>
    <p:extLst>
      <p:ext uri="{BB962C8B-B14F-4D97-AF65-F5344CB8AC3E}">
        <p14:creationId xmlns:p14="http://schemas.microsoft.com/office/powerpoint/2010/main" val="3206692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D88FD-E112-5AB1-BAB6-7A2765AC9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58AC94D-E97C-08BD-5FF8-815847E03B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54471"/>
            <a:ext cx="923024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helps us keep more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Cleaning info makes our results better.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Helping people makes them stay loyal.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Long contracts lead to big success.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 can predict the future now.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Saving customers saves the company money.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Smart data makes a better world.</a:t>
            </a:r>
          </a:p>
        </p:txBody>
      </p:sp>
    </p:spTree>
    <p:extLst>
      <p:ext uri="{BB962C8B-B14F-4D97-AF65-F5344CB8AC3E}">
        <p14:creationId xmlns:p14="http://schemas.microsoft.com/office/powerpoint/2010/main" val="975233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917987" y="3092073"/>
            <a:ext cx="5365207" cy="179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THANK  YOU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2215</TotalTime>
  <Words>1104</Words>
  <Application>Microsoft Office PowerPoint</Application>
  <PresentationFormat>Widescreen</PresentationFormat>
  <Paragraphs>142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Calibri</vt:lpstr>
      <vt:lpstr>Arial</vt:lpstr>
      <vt:lpstr>Calibri Light</vt:lpstr>
      <vt:lpstr>Times New Roman</vt:lpstr>
      <vt:lpstr>Libre Baskerville</vt:lpstr>
      <vt:lpstr>Office Theme</vt:lpstr>
      <vt:lpstr>PowerPoint Presentation</vt:lpstr>
      <vt:lpstr>About me</vt:lpstr>
      <vt:lpstr>Agenda(The Game Plan)</vt:lpstr>
      <vt:lpstr> Problem: Why Are Customers Leaving?</vt:lpstr>
      <vt:lpstr>  Objective (The Mission)</vt:lpstr>
      <vt:lpstr>Dataset Overview :Our Big Map of Data (Our Clue Box)</vt:lpstr>
      <vt:lpstr>Data Preparation &amp; Cleaning</vt:lpstr>
      <vt:lpstr>PowerPoint Presentation</vt:lpstr>
      <vt:lpstr>1. Dashboard Visualizations</vt:lpstr>
      <vt:lpstr>PowerPoint Presentation</vt:lpstr>
      <vt:lpstr>2. SERVICE SECRETS (Internet &amp; Tech) </vt:lpstr>
      <vt:lpstr>PowerPoint Presentation</vt:lpstr>
      <vt:lpstr>3. MONEY &amp; LOYALTY (Billing Analysis)</vt:lpstr>
      <vt:lpstr>PowerPoint Presentation</vt:lpstr>
      <vt:lpstr>4. Key Drivers of Customer Churn</vt:lpstr>
      <vt:lpstr>Applications &amp; Recommendations</vt:lpstr>
      <vt:lpstr>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Morangapalli Sharath Kumar</cp:lastModifiedBy>
  <cp:revision>80</cp:revision>
  <dcterms:created xsi:type="dcterms:W3CDTF">2021-02-16T05:19:01Z</dcterms:created>
  <dcterms:modified xsi:type="dcterms:W3CDTF">2026-01-03T06:49:33Z</dcterms:modified>
</cp:coreProperties>
</file>